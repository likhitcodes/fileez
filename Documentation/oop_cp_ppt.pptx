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1"/>
  </p:sldMasterIdLst>
  <p:notesMasterIdLst>
    <p:notesMasterId r:id="rId9"/>
  </p:notesMasterIdLst>
  <p:sldIdLst>
    <p:sldId id="275" r:id="rId2"/>
    <p:sldId id="276" r:id="rId3"/>
    <p:sldId id="267" r:id="rId4"/>
    <p:sldId id="278" r:id="rId5"/>
    <p:sldId id="279" r:id="rId6"/>
    <p:sldId id="280" r:id="rId7"/>
    <p:sldId id="281" r:id="rId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it Viit" initials="VV" lastIdx="2" clrIdx="0">
    <p:extLst>
      <p:ext uri="{19B8F6BF-5375-455C-9EA6-DF929625EA0E}">
        <p15:presenceInfo xmlns:p15="http://schemas.microsoft.com/office/powerpoint/2012/main" userId="Viit Vi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43AEFF"/>
    <a:srgbClr val="25A2FF"/>
    <a:srgbClr val="189CDE"/>
    <a:srgbClr val="0996FF"/>
    <a:srgbClr val="0192FF"/>
    <a:srgbClr val="0594FF"/>
    <a:srgbClr val="008FFA"/>
    <a:srgbClr val="008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68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B592-AEF7-4F19-89CE-62E2656F1C5E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559C-9A1D-465C-BD22-C64000BBB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57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BEE3-B8E8-3519-F74C-60B63AA3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93F31-5805-FF1F-DBCA-C75DB1795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CD985-82B4-32C5-30C7-5CB9D6007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77615-D96C-6454-4475-E4197E33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733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67995-6596-4530-A5D2-070242EF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1055E-320E-84DD-C0C6-2DEB8C104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9E475-6931-AC6C-8912-3A7554016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BDED8-0580-35EE-16F6-368420654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70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2C4A-93C3-E07F-776E-43342012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40FAB-DF2F-EE19-F821-45321A6C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84AD3-A39E-E359-5CD5-33936350C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5C019-903F-056D-21DB-31952EBCE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425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66B9-A285-E6CE-7B3D-FB7B4924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D5115-8EF6-4E82-6C8C-23D84CEA6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CFEB8-90D1-8AD6-43B5-ECA035825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5CC2D-50AD-9329-052E-2CBC2FCC0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430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E9C4-19AC-4D01-81DA-E140B97A9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CA5E5-3A78-455F-A1D5-145EA9173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8103-6802-402E-8A9C-2FB10C13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E19A-DC0A-4D53-A4FB-E883E939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09EA-FF5B-4648-B17D-3689B515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6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BEFC-853B-4E71-90C0-35BD8D1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4BB9-BDA4-4C04-BA11-57AE021A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86A-60FA-47B2-80EA-B781B0D0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E884-2704-4762-B1F7-A390B525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461B4-73E9-4628-92E8-74939F9E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6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589E-9D4B-44E6-BF11-C075A062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8F49-9067-4135-A992-6FB9ECEA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58BF-DC88-48A8-8054-8760C54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900E-11FD-4ACA-8E87-4EC87F1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7084-87E6-4F73-9995-37B9D5DA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6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2823-44FC-4F0E-988B-2ACF3A6C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5ADA-214B-4BFF-9D95-4AACAA67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0DDFE-CE85-4487-A2F7-D43D9AD9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E3102-E054-4C70-8672-73C06D74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A228-140D-4F9B-A2FE-74BFB213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C3789-8D8D-4D5C-A015-00F074C7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6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AFB0-2CA1-458E-8D17-13C9D160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8FFF-DC4E-46B0-93F5-FAB67A7D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04111-7E13-4A52-A9E1-956A87C87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4A28-7BD2-4B06-ABF5-89A47C156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6BDF0-5B29-4A2F-8CC0-14E57446D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1CA3A-A01B-4B5C-A4F8-C14D8EC4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CAA6B-C991-48DE-B578-AE2A9961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5B9A6-E7CF-4D3D-9193-F5CCF040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9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AF43-78DB-4D57-9B2D-80B50CE2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1968-C016-4D62-894F-92EC2098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C0E1-975B-4302-8CF3-C520CED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DAC7F-9355-4792-84EA-A4C808E3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5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6E9C9-69F5-4D64-AFCA-189935E7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B54D1-AD89-4CA0-8134-5D2BAF33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8272-E3A3-4683-B86E-79218886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ADB3-F3C8-4862-AF7F-04DDE9A4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89C0-5D66-43A0-995C-51CDB2B8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9A2F6-A867-42FE-8C9C-0CD7E665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24A67-3315-4540-9790-4166A5A8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C2BE8-6B25-4D6D-A216-0288779C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23A18-5A76-4536-926B-E6B3828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3C2C-789D-4AF3-A6E0-0AE7144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586BE-F0E8-46DC-B95E-EBCA67996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E20C7-39DD-4D17-B93E-E92481C7A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6E00D-6FB3-4F93-91B6-3385B363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2EE8-F875-4115-8DB6-6E4C5A4D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366B0-CAEE-4D99-8704-EBC2029A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2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BA33-3BCA-4D04-8B42-26F6BB17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3B614-80E5-43E5-ACC0-10C094878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C068-F4B8-4482-BCC2-F12B8405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6C726-B8F7-46D8-A302-A3C69CB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2F82-7742-49B4-9D22-A703AE78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5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94F4A-84CD-42EC-A311-E7DDDE5B9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F8A3-D97A-477F-8A9F-5D2D8FC9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056D-23ED-4173-85A0-B789F940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BBEB-F29D-4181-968D-AF3F415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3474-7DC7-49B8-A4C4-B10099ED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4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35254-BA2C-4834-85C4-C01A1408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206B-E85F-4151-9F6F-B42BD4F2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75DC-D9A3-4246-8E04-359C1E241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12CA-D198-4AFA-9ADD-37508EAD6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25125-6F41-48E5-B98E-9C500B88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0894"/>
            <a:ext cx="7906466" cy="90215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old" panose="020B0704020202020204"/>
                <a:cs typeface="Arial Bold" panose="020B0704020202020204"/>
                <a:sym typeface="Arial Bold" panose="020B0704020202020204"/>
              </a:rPr>
              <a:t>Decentralized Peer-to-Peer File sharing system</a:t>
            </a:r>
            <a:endParaRPr lang="en-IN" sz="2700" b="1" dirty="0">
              <a:latin typeface="Lucida Sans Typewriter" panose="020B05090305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9547" y="293053"/>
            <a:ext cx="2604029" cy="16023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Vidya Gaikwad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 Pune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249210" y="4021068"/>
            <a:ext cx="8645581" cy="420461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Vishwakarma Institute of Technology, Pune-48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7" y="0"/>
            <a:ext cx="754213" cy="8528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052" y="4427922"/>
            <a:ext cx="834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(An Autonomous Institute affiliated to Savitribai Phule Pune University)</a:t>
            </a:r>
          </a:p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(NBA and NAAC accredited, ISO 9001:2015 certified)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B02E0-CCF0-10F0-6AA8-C8ADC3234998}"/>
              </a:ext>
            </a:extLst>
          </p:cNvPr>
          <p:cNvSpPr txBox="1"/>
          <p:nvPr/>
        </p:nvSpPr>
        <p:spPr>
          <a:xfrm>
            <a:off x="249210" y="1283903"/>
            <a:ext cx="1971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C35FB-42FA-4D42-ECC7-5BBA0E139D32}"/>
              </a:ext>
            </a:extLst>
          </p:cNvPr>
          <p:cNvSpPr txBox="1"/>
          <p:nvPr/>
        </p:nvSpPr>
        <p:spPr>
          <a:xfrm>
            <a:off x="330009" y="1677546"/>
            <a:ext cx="3726352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Sahil Ashok Khaire  : 1252070013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Likhit Abhay </a:t>
            </a:r>
            <a:r>
              <a:rPr lang="en-IN" dirty="0" err="1"/>
              <a:t>Chirmade</a:t>
            </a:r>
            <a:r>
              <a:rPr lang="en-IN" dirty="0"/>
              <a:t>  : 1252070023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Rohan Rajendra Langar  : 1252070025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Pranil Pramod Jatkar  : 1252070026</a:t>
            </a:r>
          </a:p>
        </p:txBody>
      </p:sp>
    </p:spTree>
    <p:extLst>
      <p:ext uri="{BB962C8B-B14F-4D97-AF65-F5344CB8AC3E}">
        <p14:creationId xmlns:p14="http://schemas.microsoft.com/office/powerpoint/2010/main" val="267514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3F5290-0467-2B95-6507-BB23689CD1F2}"/>
              </a:ext>
            </a:extLst>
          </p:cNvPr>
          <p:cNvSpPr/>
          <p:nvPr/>
        </p:nvSpPr>
        <p:spPr>
          <a:xfrm>
            <a:off x="362311" y="864419"/>
            <a:ext cx="8515635" cy="1618097"/>
          </a:xfrm>
          <a:prstGeom prst="roundRect">
            <a:avLst/>
          </a:prstGeom>
          <a:solidFill>
            <a:srgbClr val="F6F6F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file sharing methods present several critical limitations: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Dependency: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Reliance on external services causes privacy concerns and requires internet connectivity.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Sensitive data is exposed to third-party servers.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Physical media like USBs are impractical for multi-user scenarios, while cloud services suffer from bandwidth limits and file size restrictions.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Barriers: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local network solutions (SMB, FTP) require complex setup and lack intuitive interfaces.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07B2ED-3478-8FE1-5B69-8DEB94727BB3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127C5-6CEF-7594-D79C-F160B86A4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517E4A-CAEF-6169-2DDD-F13B70089DF7}"/>
              </a:ext>
            </a:extLst>
          </p:cNvPr>
          <p:cNvSpPr txBox="1"/>
          <p:nvPr/>
        </p:nvSpPr>
        <p:spPr>
          <a:xfrm>
            <a:off x="724623" y="296125"/>
            <a:ext cx="508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 and solution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405653-A06B-2986-DF13-AE56A5C860DD}"/>
              </a:ext>
            </a:extLst>
          </p:cNvPr>
          <p:cNvSpPr/>
          <p:nvPr/>
        </p:nvSpPr>
        <p:spPr>
          <a:xfrm>
            <a:off x="362311" y="2567209"/>
            <a:ext cx="8571779" cy="2230552"/>
          </a:xfrm>
          <a:prstGeom prst="roundRect">
            <a:avLst/>
          </a:prstGeom>
          <a:solidFill>
            <a:srgbClr val="F6F6F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production-ready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 File Sharing System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secure, direct transfers within local networks: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a high-performance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backend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data handling with an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desktop wrapper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ease of use.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P2P Protocol: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 custom TCP-based protocol for direct peer connections without intermediary servers or internet.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Transfer: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chunk-based transfers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(1MB default) to maximize local network bandwidth.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Integrity: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reliability using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SHA-256 checksums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integrity verification and keeps all traffic isolated to the local network.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 automatic peer discovery and the ability to resume interrupted transfers.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21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5C49-0FED-4D6B-B28B-CEC15C30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AE1C1D-BEAA-BC71-30A8-51D3BD7E4F31}"/>
              </a:ext>
            </a:extLst>
          </p:cNvPr>
          <p:cNvSpPr txBox="1"/>
          <p:nvPr/>
        </p:nvSpPr>
        <p:spPr>
          <a:xfrm>
            <a:off x="941902" y="225887"/>
            <a:ext cx="3925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System Overview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D0A0A-C556-087C-7B81-DB5BF25B71C6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57299-A2F5-A1F6-8CB1-7215447DA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77"/>
          <a:stretch>
            <a:fillRect/>
          </a:stretch>
        </p:blipFill>
        <p:spPr>
          <a:xfrm>
            <a:off x="536533" y="999380"/>
            <a:ext cx="7977736" cy="3520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C722C-BF21-16FF-1376-41D57F4BC90D}"/>
              </a:ext>
            </a:extLst>
          </p:cNvPr>
          <p:cNvSpPr txBox="1"/>
          <p:nvPr/>
        </p:nvSpPr>
        <p:spPr>
          <a:xfrm>
            <a:off x="536533" y="999380"/>
            <a:ext cx="3192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System Architecture : </a:t>
            </a:r>
          </a:p>
        </p:txBody>
      </p:sp>
    </p:spTree>
    <p:extLst>
      <p:ext uri="{BB962C8B-B14F-4D97-AF65-F5344CB8AC3E}">
        <p14:creationId xmlns:p14="http://schemas.microsoft.com/office/powerpoint/2010/main" val="3246460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40CF-BD2A-C7E4-76D9-A9983A4C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F34D-4FCE-A9FF-D78C-3A3FA986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3F05D7-0CBE-849A-974E-93102AE49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DCE0B0-3BC5-DF8A-7CCD-B265250B5046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7DB2C-4882-141B-7EA5-16B080FD808C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64119-B46B-05BF-4ADB-7AF5BDC79869}"/>
              </a:ext>
            </a:extLst>
          </p:cNvPr>
          <p:cNvSpPr txBox="1"/>
          <p:nvPr/>
        </p:nvSpPr>
        <p:spPr>
          <a:xfrm>
            <a:off x="818146" y="225887"/>
            <a:ext cx="477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Features 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12DEAD-2A70-90B6-2858-8C56F759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9"/>
          <a:stretch>
            <a:fillRect/>
          </a:stretch>
        </p:blipFill>
        <p:spPr>
          <a:xfrm>
            <a:off x="6521116" y="87075"/>
            <a:ext cx="2557760" cy="4682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7B1EA6-240B-7951-176D-26097D9A1972}"/>
              </a:ext>
            </a:extLst>
          </p:cNvPr>
          <p:cNvSpPr txBox="1"/>
          <p:nvPr/>
        </p:nvSpPr>
        <p:spPr>
          <a:xfrm>
            <a:off x="273241" y="973463"/>
            <a:ext cx="60914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Local Sharing: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transfers via local network without internet or cloud dependency.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chunk-based transfers that maximize local bandwidth.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Integrity: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verification of every file chunk to ensure zero data corruption.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Discovery: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peer detection and network-aware load balancing.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Resilience: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resuming interrupted transfers with automatic error recovery.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Isolation within the local network with comprehensive input validation.</a:t>
            </a:r>
          </a:p>
        </p:txBody>
      </p:sp>
    </p:spTree>
    <p:extLst>
      <p:ext uri="{BB962C8B-B14F-4D97-AF65-F5344CB8AC3E}">
        <p14:creationId xmlns:p14="http://schemas.microsoft.com/office/powerpoint/2010/main" val="273316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537A-4C3F-AFDC-E7AB-C1F0EC81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5C96-9A3A-FE2F-E461-471EC946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2532409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7837B2-CA44-8A2C-CEA6-708AD8D52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00E7AC-146C-E754-24A8-F7FBFC558311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27BE9-6169-4576-3129-AE00AC8A9C19}"/>
              </a:ext>
            </a:extLst>
          </p:cNvPr>
          <p:cNvSpPr txBox="1"/>
          <p:nvPr/>
        </p:nvSpPr>
        <p:spPr>
          <a:xfrm>
            <a:off x="941901" y="225887"/>
            <a:ext cx="55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Metrics and Feasibility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DB2879-3DB4-3DAE-ED00-6E075D655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97429"/>
              </p:ext>
            </p:extLst>
          </p:nvPr>
        </p:nvGraphicFramePr>
        <p:xfrm>
          <a:off x="5434265" y="2235088"/>
          <a:ext cx="3501188" cy="138684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875297">
                  <a:extLst>
                    <a:ext uri="{9D8B030D-6E8A-4147-A177-3AD203B41FA5}">
                      <a16:colId xmlns:a16="http://schemas.microsoft.com/office/drawing/2014/main" val="2002313192"/>
                    </a:ext>
                  </a:extLst>
                </a:gridCol>
                <a:gridCol w="875297">
                  <a:extLst>
                    <a:ext uri="{9D8B030D-6E8A-4147-A177-3AD203B41FA5}">
                      <a16:colId xmlns:a16="http://schemas.microsoft.com/office/drawing/2014/main" val="2131527459"/>
                    </a:ext>
                  </a:extLst>
                </a:gridCol>
                <a:gridCol w="875297">
                  <a:extLst>
                    <a:ext uri="{9D8B030D-6E8A-4147-A177-3AD203B41FA5}">
                      <a16:colId xmlns:a16="http://schemas.microsoft.com/office/drawing/2014/main" val="1994411486"/>
                    </a:ext>
                  </a:extLst>
                </a:gridCol>
                <a:gridCol w="875297">
                  <a:extLst>
                    <a:ext uri="{9D8B030D-6E8A-4147-A177-3AD203B41FA5}">
                      <a16:colId xmlns:a16="http://schemas.microsoft.com/office/drawing/2014/main" val="3192390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</a:rPr>
                        <a:t>File Size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P2P System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</a:rPr>
                        <a:t>Cloud Storage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USB 3.0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19469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100 MB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dirty="0">
                          <a:solidFill>
                            <a:srgbClr val="1F1F1F"/>
                          </a:solidFill>
                          <a:effectLst/>
                        </a:rPr>
                        <a:t>2.1s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dirty="0">
                          <a:solidFill>
                            <a:srgbClr val="1F1F1F"/>
                          </a:solidFill>
                          <a:effectLst/>
                        </a:rPr>
                        <a:t>45s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10s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0631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</a:rPr>
                        <a:t>1 GB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dirty="0">
                          <a:solidFill>
                            <a:srgbClr val="1F1F1F"/>
                          </a:solidFill>
                          <a:effectLst/>
                        </a:rPr>
                        <a:t>21s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dirty="0">
                          <a:solidFill>
                            <a:srgbClr val="1F1F1F"/>
                          </a:solidFill>
                          <a:effectLst/>
                        </a:rPr>
                        <a:t>450s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100s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6496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5 GB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105s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dirty="0">
                          <a:solidFill>
                            <a:srgbClr val="1F1F1F"/>
                          </a:solidFill>
                          <a:effectLst/>
                        </a:rPr>
                        <a:t>2250s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500s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81737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10 GB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210s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4500s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dirty="0">
                          <a:solidFill>
                            <a:srgbClr val="1F1F1F"/>
                          </a:solidFill>
                          <a:effectLst/>
                        </a:rPr>
                        <a:t>1000s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320810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69890B-65B5-6EE1-48EA-10E8F951AAE9}"/>
              </a:ext>
            </a:extLst>
          </p:cNvPr>
          <p:cNvSpPr txBox="1"/>
          <p:nvPr/>
        </p:nvSpPr>
        <p:spPr>
          <a:xfrm>
            <a:off x="6043864" y="1892192"/>
            <a:ext cx="2281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Metrics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47E3A9-FD0B-D8B7-D6AC-EFD357608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598957"/>
              </p:ext>
            </p:extLst>
          </p:nvPr>
        </p:nvGraphicFramePr>
        <p:xfrm>
          <a:off x="208547" y="1099640"/>
          <a:ext cx="5101390" cy="3712577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989054">
                  <a:extLst>
                    <a:ext uri="{9D8B030D-6E8A-4147-A177-3AD203B41FA5}">
                      <a16:colId xmlns:a16="http://schemas.microsoft.com/office/drawing/2014/main" val="3558976342"/>
                    </a:ext>
                  </a:extLst>
                </a:gridCol>
                <a:gridCol w="1014802">
                  <a:extLst>
                    <a:ext uri="{9D8B030D-6E8A-4147-A177-3AD203B41FA5}">
                      <a16:colId xmlns:a16="http://schemas.microsoft.com/office/drawing/2014/main" val="2981344025"/>
                    </a:ext>
                  </a:extLst>
                </a:gridCol>
                <a:gridCol w="3097534">
                  <a:extLst>
                    <a:ext uri="{9D8B030D-6E8A-4147-A177-3AD203B41FA5}">
                      <a16:colId xmlns:a16="http://schemas.microsoft.com/office/drawing/2014/main" val="3344069242"/>
                    </a:ext>
                  </a:extLst>
                </a:gridCol>
              </a:tblGrid>
              <a:tr h="3957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</a:rPr>
                        <a:t>Feasibility Category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</a:rPr>
                        <a:t>Assessment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</a:rPr>
                        <a:t>Supporting Evidence from Report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276355660"/>
                  </a:ext>
                </a:extLst>
              </a:tr>
              <a:tr h="6162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Technical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Uses a high-performance C++ backend for parallel chunking and SHA-256 verification. Integrated with Electron and modern web technologies.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3728104746"/>
                  </a:ext>
                </a:extLst>
              </a:tr>
              <a:tr h="5731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Operational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Excellent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Automatic peer discovery and a user-friendly web dashboard remove technical barriers for non-expert users.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3683202194"/>
                  </a:ext>
                </a:extLst>
              </a:tr>
              <a:tr h="5731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Economic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Zero dependency on internet or third-party cloud subscriptions. Infrastructure relies solely on existing local network hardware.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4176544936"/>
                  </a:ext>
                </a:extLst>
              </a:tr>
              <a:tr h="5731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Security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Robust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Data remains strictly within the local network, preventing external exposure. SHA-256 ensures zero data corruption.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459155799"/>
                  </a:ext>
                </a:extLst>
              </a:tr>
              <a:tr h="5731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Scalability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Successfully tested with files up to 10GB and 20+ concurrent users with minimal CPU/Memory impact.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2484711104"/>
                  </a:ext>
                </a:extLst>
              </a:tr>
              <a:tr h="3957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Reliability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</a:rPr>
                        <a:t>Proven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Achieved a 99.8% transfer success rate and 98% success rate in resuming interrupted transfers.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776" marR="31776" marT="21184" marB="21184" anchor="ctr"/>
                </a:tc>
                <a:extLst>
                  <a:ext uri="{0D108BD9-81ED-4DB2-BD59-A6C34878D82A}">
                    <a16:rowId xmlns:a16="http://schemas.microsoft.com/office/drawing/2014/main" val="7654915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72E497C-0F35-CA97-E9BC-0D43A2BD16B6}"/>
              </a:ext>
            </a:extLst>
          </p:cNvPr>
          <p:cNvSpPr txBox="1"/>
          <p:nvPr/>
        </p:nvSpPr>
        <p:spPr>
          <a:xfrm>
            <a:off x="1648326" y="819345"/>
            <a:ext cx="2281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Feasibility : </a:t>
            </a:r>
          </a:p>
        </p:txBody>
      </p:sp>
    </p:spTree>
    <p:extLst>
      <p:ext uri="{BB962C8B-B14F-4D97-AF65-F5344CB8AC3E}">
        <p14:creationId xmlns:p14="http://schemas.microsoft.com/office/powerpoint/2010/main" val="297785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4D19-E1D6-2FD1-1375-1E6A75E2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20F0-03C7-5279-EE42-9043FF734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AE882E-0A1E-8B3A-8153-D16C89E27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416DE15-46DF-453E-0E2B-D808CCAB0FEB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85970B-A081-2023-A7C2-1A9271C846B3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2D95F-6165-666E-FFC5-1C02552104CF}"/>
              </a:ext>
            </a:extLst>
          </p:cNvPr>
          <p:cNvSpPr txBox="1"/>
          <p:nvPr/>
        </p:nvSpPr>
        <p:spPr>
          <a:xfrm>
            <a:off x="818147" y="225887"/>
            <a:ext cx="4537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98E01-C0C3-5A1E-EE6F-BB05BAC1CA88}"/>
              </a:ext>
            </a:extLst>
          </p:cNvPr>
          <p:cNvSpPr txBox="1"/>
          <p:nvPr/>
        </p:nvSpPr>
        <p:spPr>
          <a:xfrm>
            <a:off x="159848" y="1448002"/>
            <a:ext cx="286408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P2P File Sharing System provides a high-performance, secure alternative to cloud-based services by keeping data strictly within local networks. By combining a robust </a:t>
            </a:r>
            <a:r>
              <a:rPr lang="en-US" b="1" dirty="0"/>
              <a:t>C++ backend</a:t>
            </a:r>
            <a:r>
              <a:rPr lang="en-US" dirty="0"/>
              <a:t> with an </a:t>
            </a:r>
            <a:r>
              <a:rPr lang="en-US" b="1" dirty="0"/>
              <a:t>Electron desktop wrapper</a:t>
            </a:r>
            <a:r>
              <a:rPr lang="en-US" dirty="0"/>
              <a:t>, the system achieves transfer speeds limited only by local bandwidth, outperforming traditional cloud storage by up to 21x for large files.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D46F3-68C2-A033-B80D-6FBF71EE1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79" y="852381"/>
            <a:ext cx="5797473" cy="365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8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E27F8-CBA4-AC42-984E-716AE786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515658-E5D6-D04D-0906-34BBBB3CA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BACC81-B42C-2866-A39B-0ED8FA9C2F8E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E90F0-51D2-F948-773D-756D9E9E8EA1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93749-F2FD-CD01-FE67-110B468B2D39}"/>
              </a:ext>
            </a:extLst>
          </p:cNvPr>
          <p:cNvSpPr txBox="1"/>
          <p:nvPr/>
        </p:nvSpPr>
        <p:spPr>
          <a:xfrm>
            <a:off x="3364832" y="2204569"/>
            <a:ext cx="2578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365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2901</TotalTime>
  <Words>640</Words>
  <Application>Microsoft Office PowerPoint</Application>
  <PresentationFormat>On-screen Show (16:9)</PresentationFormat>
  <Paragraphs>110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Bold</vt:lpstr>
      <vt:lpstr>Calibri</vt:lpstr>
      <vt:lpstr>Calibri Light</vt:lpstr>
      <vt:lpstr>Google Sans Text</vt:lpstr>
      <vt:lpstr>Lucida Sans Typewriter</vt:lpstr>
      <vt:lpstr>Times New Roman</vt:lpstr>
      <vt:lpstr>Office Theme</vt:lpstr>
      <vt:lpstr>Decentralized Peer-to-Peer File sharing system</vt:lpstr>
      <vt:lpstr>PowerPoint Presentation</vt:lpstr>
      <vt:lpstr>   </vt:lpstr>
      <vt:lpstr>   </vt:lpstr>
      <vt:lpstr>   </vt:lpstr>
      <vt:lpstr>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Standard Practices for Engineers</dc:title>
  <dc:creator>Viit Viit</dc:creator>
  <cp:lastModifiedBy>Likhit Chirmade</cp:lastModifiedBy>
  <cp:revision>99</cp:revision>
  <dcterms:created xsi:type="dcterms:W3CDTF">2020-04-02T16:05:06Z</dcterms:created>
  <dcterms:modified xsi:type="dcterms:W3CDTF">2025-12-21T18:39:23Z</dcterms:modified>
</cp:coreProperties>
</file>